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8"/>
  </p:notesMasterIdLst>
  <p:sldIdLst>
    <p:sldId id="256" r:id="rId2"/>
    <p:sldId id="311" r:id="rId3"/>
    <p:sldId id="320" r:id="rId4"/>
    <p:sldId id="286" r:id="rId5"/>
    <p:sldId id="260" r:id="rId6"/>
    <p:sldId id="262" r:id="rId7"/>
    <p:sldId id="261" r:id="rId8"/>
    <p:sldId id="263" r:id="rId9"/>
    <p:sldId id="314" r:id="rId10"/>
    <p:sldId id="321" r:id="rId11"/>
    <p:sldId id="312" r:id="rId12"/>
    <p:sldId id="265" r:id="rId13"/>
    <p:sldId id="315" r:id="rId14"/>
    <p:sldId id="316" r:id="rId15"/>
    <p:sldId id="319" r:id="rId16"/>
    <p:sldId id="317" r:id="rId17"/>
  </p:sldIdLst>
  <p:sldSz cx="9144000" cy="5143500" type="screen16x9"/>
  <p:notesSz cx="6858000" cy="9144000"/>
  <p:embeddedFontLst>
    <p:embeddedFont>
      <p:font typeface="Albert Sans" panose="020B0604020202020204" charset="0"/>
      <p:regular r:id="rId19"/>
      <p:bold r:id="rId20"/>
      <p:italic r:id="rId21"/>
      <p:boldItalic r:id="rId22"/>
    </p:embeddedFont>
    <p:embeddedFont>
      <p:font typeface="Alexandria Medium" panose="020B0604020202020204" charset="-78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F6"/>
    <a:srgbClr val="0F5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4CECF4-6714-470D-885D-F9A39D84C0C6}">
  <a:tblStyle styleId="{4C4CECF4-6714-470D-885D-F9A39D84C0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713822-CA38-4EB5-AD41-AF81241703C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703cb3a7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25" name="Google Shape;225;g25703cb3a7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572bee519d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568" name="Google Shape;568;g2572bee519d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40" name="Google Shape;240;g25685abc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703cb3a7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54" name="Google Shape;254;g25703cb3a7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D86643B-E30A-1A23-4FB3-07CB4B6E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6FC8313E-F5CE-EAB3-9287-C8491B7EE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11739278-E90E-90E5-55C6-1E286A69C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2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B774339B-EF79-B4F8-1FB4-F9DE89CF2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>
            <a:extLst>
              <a:ext uri="{FF2B5EF4-FFF2-40B4-BE49-F238E27FC236}">
                <a16:creationId xmlns:a16="http://schemas.microsoft.com/office/drawing/2014/main" id="{C0EBCE42-288F-3397-17F5-FD7F597EE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40" name="Google Shape;240;g25685abcfce_0_0:notes">
            <a:extLst>
              <a:ext uri="{FF2B5EF4-FFF2-40B4-BE49-F238E27FC236}">
                <a16:creationId xmlns:a16="http://schemas.microsoft.com/office/drawing/2014/main" id="{803B6E93-3C7B-A1BC-5CF5-362413D30C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325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7C724CF-7AAA-2CD9-674C-3DB9E827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BDCEFA8C-0100-8739-B573-D8636D244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6F129667-70DB-6D7C-0250-463B1C6D3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492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72bee519d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70" name="Google Shape;270;g2572bee519d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5530B261-2D4D-9EA6-659F-CA25A54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A4EC37B4-CF4D-BA6C-8934-30C351010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1CBC9FAE-B532-AA75-ACF7-12ED1CF08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030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19561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2B49A606-9B2B-569E-A069-A7329DE4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>
            <a:extLst>
              <a:ext uri="{FF2B5EF4-FFF2-40B4-BE49-F238E27FC236}">
                <a16:creationId xmlns:a16="http://schemas.microsoft.com/office/drawing/2014/main" id="{08AA9B58-A068-DD3D-9B29-B684CF7CC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8" name="Google Shape;188;g2558abb5fb3_0_0:notes">
            <a:extLst>
              <a:ext uri="{FF2B5EF4-FFF2-40B4-BE49-F238E27FC236}">
                <a16:creationId xmlns:a16="http://schemas.microsoft.com/office/drawing/2014/main" id="{9ECF9BA1-8A2C-0C40-5E91-9C1CD1EE1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23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174698" t="-83399" r="177064" b="41636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8" r:id="rId7"/>
    <p:sldLayoutId id="2147483661" r:id="rId8"/>
    <p:sldLayoutId id="2147483666" r:id="rId9"/>
    <p:sldLayoutId id="2147483672" r:id="rId10"/>
    <p:sldLayoutId id="2147483673" r:id="rId11"/>
    <p:sldLayoutId id="2147483676" r:id="rId12"/>
    <p:sldLayoutId id="214748367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Google Shape;192;p35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90;p35">
            <a:extLst>
              <a:ext uri="{FF2B5EF4-FFF2-40B4-BE49-F238E27FC236}">
                <a16:creationId xmlns:a16="http://schemas.microsoft.com/office/drawing/2014/main" id="{3F3DED40-AE19-20F6-7A1A-C4296BE8691C}"/>
              </a:ext>
            </a:extLst>
          </p:cNvPr>
          <p:cNvSpPr txBox="1">
            <a:spLocks/>
          </p:cNvSpPr>
          <p:nvPr/>
        </p:nvSpPr>
        <p:spPr>
          <a:xfrm>
            <a:off x="711749" y="3030363"/>
            <a:ext cx="6627513" cy="138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9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s-CL" sz="4800" dirty="0"/>
              <a:t>Programación para la Ciencia de Datos</a:t>
            </a:r>
          </a:p>
        </p:txBody>
      </p:sp>
      <p:sp>
        <p:nvSpPr>
          <p:cNvPr id="3" name="Google Shape;191;p35">
            <a:extLst>
              <a:ext uri="{FF2B5EF4-FFF2-40B4-BE49-F238E27FC236}">
                <a16:creationId xmlns:a16="http://schemas.microsoft.com/office/drawing/2014/main" id="{AF2DFE8A-AD70-C2EF-F34A-019562BD3D17}"/>
              </a:ext>
            </a:extLst>
          </p:cNvPr>
          <p:cNvSpPr txBox="1">
            <a:spLocks/>
          </p:cNvSpPr>
          <p:nvPr/>
        </p:nvSpPr>
        <p:spPr>
          <a:xfrm>
            <a:off x="4030579" y="522968"/>
            <a:ext cx="4401821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/>
            <a:r>
              <a:rPr lang="es-MX" b="1"/>
              <a:t>Abel Aravena, Benjamín Aravena, Gabriel Castillo</a:t>
            </a:r>
            <a:endParaRPr lang="es-MX" b="1" dirty="0"/>
          </a:p>
        </p:txBody>
      </p:sp>
      <p:cxnSp>
        <p:nvCxnSpPr>
          <p:cNvPr id="4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F4C68E6-B16B-7227-CEBA-E31B865DCCFD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Google Shape;190;p35">
            <a:extLst>
              <a:ext uri="{FF2B5EF4-FFF2-40B4-BE49-F238E27FC236}">
                <a16:creationId xmlns:a16="http://schemas.microsoft.com/office/drawing/2014/main" id="{CE25D11B-A13C-D28D-26DB-4E322C6DB2E8}"/>
              </a:ext>
            </a:extLst>
          </p:cNvPr>
          <p:cNvSpPr txBox="1">
            <a:spLocks/>
          </p:cNvSpPr>
          <p:nvPr/>
        </p:nvSpPr>
        <p:spPr>
          <a:xfrm>
            <a:off x="711750" y="2246492"/>
            <a:ext cx="5917650" cy="78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9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s-CL" sz="3600" dirty="0">
                <a:solidFill>
                  <a:schemeClr val="bg2">
                    <a:lumMod val="25000"/>
                  </a:schemeClr>
                </a:solidFill>
              </a:rPr>
              <a:t>SCY11</a:t>
            </a:r>
            <a:r>
              <a:rPr lang="es-CL" sz="3600" dirty="0">
                <a:solidFill>
                  <a:srgbClr val="0F5E1F"/>
                </a:solidFill>
              </a:rPr>
              <a:t>01-80</a:t>
            </a:r>
            <a:r>
              <a:rPr lang="es-CL" sz="3600" dirty="0">
                <a:solidFill>
                  <a:schemeClr val="bg2">
                    <a:lumMod val="25000"/>
                  </a:schemeClr>
                </a:solidFill>
              </a:rPr>
              <a:t>0D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>
            <a:spLocks noGrp="1"/>
          </p:cNvSpPr>
          <p:nvPr>
            <p:ph type="title"/>
          </p:nvPr>
        </p:nvSpPr>
        <p:spPr>
          <a:xfrm>
            <a:off x="715100" y="1080480"/>
            <a:ext cx="4276800" cy="640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Descripción del caso</a:t>
            </a:r>
            <a:endParaRPr sz="2800" dirty="0"/>
          </a:p>
        </p:txBody>
      </p:sp>
      <p:sp>
        <p:nvSpPr>
          <p:cNvPr id="228" name="Google Shape;228;p38"/>
          <p:cNvSpPr txBox="1">
            <a:spLocks noGrp="1"/>
          </p:cNvSpPr>
          <p:nvPr>
            <p:ph type="body" idx="1"/>
          </p:nvPr>
        </p:nvSpPr>
        <p:spPr>
          <a:xfrm>
            <a:off x="799321" y="1997241"/>
            <a:ext cx="7283484" cy="16122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s-MX" sz="1600" b="1" dirty="0"/>
              <a:t>Depresión en estudiantes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sz="1600" dirty="0"/>
          </a:p>
          <a:p>
            <a:pPr marL="0" lvl="0" indent="0" algn="just">
              <a:buNone/>
            </a:pPr>
            <a:r>
              <a:rPr lang="es-MX" sz="1600" dirty="0"/>
              <a:t>El conjunto de </a:t>
            </a:r>
            <a:r>
              <a:rPr lang="es-CL" sz="1600" dirty="0"/>
              <a:t>27,817</a:t>
            </a:r>
            <a:r>
              <a:rPr lang="es-MX" sz="1600" dirty="0"/>
              <a:t> datos recopila información de estudiantes, como la presión académica, las horas de sueño, el estrés financiero, entre otras, además de la variable objetivo: Depresión.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" dirty="0"/>
              <a:t> 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/>
              <a:t>El propósito del proyecto es poder predecir la depresión en estudiantes en base a estos datos. </a:t>
            </a:r>
            <a:r>
              <a:rPr lang="es-MX" sz="1600" b="1" dirty="0"/>
              <a:t>Este proyecto tiene fines exclusivamente académicos y exploratorios, sin constituir una herramienta de diagnóstico que reemplace la evaluación o asesoramiento de profesionales de la salud mental.</a:t>
            </a:r>
            <a:endParaRPr sz="1600" b="1" dirty="0"/>
          </a:p>
        </p:txBody>
      </p:sp>
      <p:cxnSp>
        <p:nvCxnSpPr>
          <p:cNvPr id="229" name="Google Shape;229;p38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209208DD-1F27-A4E5-5D20-A8BD51468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1579" y="348917"/>
            <a:ext cx="1991226" cy="19912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A474A-2638-4F73-2373-FF179438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535000"/>
            <a:ext cx="6191026" cy="740347"/>
          </a:xfrm>
        </p:spPr>
        <p:txBody>
          <a:bodyPr/>
          <a:lstStyle/>
          <a:p>
            <a:r>
              <a:rPr lang="es-CL" sz="2400" dirty="0"/>
              <a:t>Variables (features) del 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DB9985-5B73-ED45-599B-9385FDE19112}"/>
              </a:ext>
            </a:extLst>
          </p:cNvPr>
          <p:cNvSpPr txBox="1"/>
          <p:nvPr/>
        </p:nvSpPr>
        <p:spPr>
          <a:xfrm>
            <a:off x="715100" y="1183867"/>
            <a:ext cx="50600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Género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Edad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Presión académica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Promedio general de calificaciones (CGPA)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Satisfacción con los estudios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Duración del sueño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Hábitos alimenticios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Título académico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¿Alguna vez ha tenido pensamientos suicidas?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Horas de trabajo/estudio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Estrés financiero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Antecedentes familiares de enfermedades mentales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Albert Sans" panose="020B0604020202020204" charset="0"/>
              </a:rPr>
              <a:t>Depresión </a:t>
            </a:r>
            <a:r>
              <a:rPr lang="es-MX" sz="1600" b="1" dirty="0">
                <a:solidFill>
                  <a:schemeClr val="accent1"/>
                </a:solidFill>
                <a:latin typeface="Albert Sans" panose="020B0604020202020204" charset="0"/>
              </a:rPr>
              <a:t>(Variable objetivo)</a:t>
            </a:r>
            <a:endParaRPr lang="es-CL" sz="1600" b="1" dirty="0">
              <a:solidFill>
                <a:schemeClr val="accent1"/>
              </a:solidFill>
              <a:latin typeface="Albert Sans" panose="020B060402020202020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E63198-8D9D-1BA3-5700-FFB1818D6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12783" b="17532"/>
          <a:stretch>
            <a:fillRect/>
          </a:stretch>
        </p:blipFill>
        <p:spPr>
          <a:xfrm>
            <a:off x="5775158" y="1358485"/>
            <a:ext cx="2971800" cy="2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"/>
          <p:cNvSpPr txBox="1">
            <a:spLocks noGrp="1"/>
          </p:cNvSpPr>
          <p:nvPr>
            <p:ph type="title"/>
          </p:nvPr>
        </p:nvSpPr>
        <p:spPr>
          <a:xfrm>
            <a:off x="715050" y="670466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Fases Aplicadas en el Proyecto</a:t>
            </a:r>
            <a:endParaRPr dirty="0"/>
          </a:p>
        </p:txBody>
      </p:sp>
      <p:sp>
        <p:nvSpPr>
          <p:cNvPr id="571" name="Google Shape;571;p65"/>
          <p:cNvSpPr txBox="1"/>
          <p:nvPr/>
        </p:nvSpPr>
        <p:spPr>
          <a:xfrm>
            <a:off x="715100" y="20556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06</a:t>
            </a:r>
            <a:endParaRPr sz="1800" dirty="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2" name="Google Shape;572;p65"/>
          <p:cNvSpPr txBox="1"/>
          <p:nvPr/>
        </p:nvSpPr>
        <p:spPr>
          <a:xfrm>
            <a:off x="715100" y="24366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Gestión del proyecto</a:t>
            </a:r>
            <a:endParaRPr sz="1800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3" name="Google Shape;573;p65"/>
          <p:cNvSpPr txBox="1"/>
          <p:nvPr/>
        </p:nvSpPr>
        <p:spPr>
          <a:xfrm>
            <a:off x="3286301" y="20556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07</a:t>
            </a:r>
            <a:endParaRPr sz="1800" dirty="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4" name="Google Shape;574;p65"/>
          <p:cNvSpPr txBox="1"/>
          <p:nvPr/>
        </p:nvSpPr>
        <p:spPr>
          <a:xfrm>
            <a:off x="3286400" y="24366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Visualización</a:t>
            </a:r>
            <a:endParaRPr sz="1800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5" name="Google Shape;575;p65"/>
          <p:cNvSpPr txBox="1"/>
          <p:nvPr/>
        </p:nvSpPr>
        <p:spPr>
          <a:xfrm>
            <a:off x="5857700" y="20556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08</a:t>
            </a:r>
            <a:endParaRPr sz="1800" dirty="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6" name="Google Shape;576;p65"/>
          <p:cNvSpPr txBox="1"/>
          <p:nvPr/>
        </p:nvSpPr>
        <p:spPr>
          <a:xfrm>
            <a:off x="5857700" y="24366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Despliegue</a:t>
            </a:r>
            <a:endParaRPr sz="1800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1940296" y="332519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5"/>
          <p:cNvSpPr/>
          <p:nvPr/>
        </p:nvSpPr>
        <p:spPr>
          <a:xfrm>
            <a:off x="4511596" y="332519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65"/>
          <p:cNvSpPr/>
          <p:nvPr/>
        </p:nvSpPr>
        <p:spPr>
          <a:xfrm>
            <a:off x="7082896" y="332519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9" name="Google Shape;589;p65"/>
          <p:cNvCxnSpPr>
            <a:stCxn id="577" idx="3"/>
            <a:endCxn id="585" idx="1"/>
          </p:cNvCxnSpPr>
          <p:nvPr/>
        </p:nvCxnSpPr>
        <p:spPr>
          <a:xfrm>
            <a:off x="2061196" y="3385640"/>
            <a:ext cx="245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90;p65"/>
          <p:cNvCxnSpPr>
            <a:stCxn id="585" idx="3"/>
            <a:endCxn id="587" idx="1"/>
          </p:cNvCxnSpPr>
          <p:nvPr/>
        </p:nvCxnSpPr>
        <p:spPr>
          <a:xfrm>
            <a:off x="4632496" y="3385640"/>
            <a:ext cx="245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Gestión del proyecto</a:t>
            </a:r>
            <a:endParaRPr sz="4400" dirty="0"/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606816" y="1348524"/>
            <a:ext cx="3255321" cy="22997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400" dirty="0"/>
              <a:t>El proyecto avanzó de forma secuencial, estableciéndose objetivos a lograr y puntos de control.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400" dirty="0"/>
              <a:t>Se utilizó la herramienta </a:t>
            </a:r>
            <a:r>
              <a:rPr lang="es-MX" sz="1400" b="1" dirty="0">
                <a:solidFill>
                  <a:schemeClr val="accent1">
                    <a:lumMod val="75000"/>
                  </a:schemeClr>
                </a:solidFill>
              </a:rPr>
              <a:t>Excalidraw</a:t>
            </a:r>
            <a:r>
              <a:rPr lang="es-MX" sz="1400" dirty="0"/>
              <a:t> para representar este avance.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400" dirty="0"/>
              <a:t>La nomenclatura es simple: cuadros para fases, triángulos para puntos de control y círculos para objetivos a lograr.</a:t>
            </a:r>
            <a:endParaRPr sz="1400" dirty="0"/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606816" y="561729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Planificación inicial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BE99F7-AD9F-451A-91D8-828FC5C103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4909" y="3862267"/>
            <a:ext cx="554181" cy="5541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0576E08-1D77-87DE-2A13-BB684E0A55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10702" y="836079"/>
            <a:ext cx="4682893" cy="3682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719999" y="535000"/>
            <a:ext cx="4405453" cy="716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Marco de trabajo </a:t>
            </a:r>
            <a:r>
              <a:rPr lang="en" sz="2400" dirty="0">
                <a:solidFill>
                  <a:schemeClr val="bg2">
                    <a:lumMod val="25000"/>
                  </a:schemeClr>
                </a:solidFill>
              </a:rPr>
              <a:t>Kanban</a:t>
            </a:r>
            <a:endParaRPr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3" name="Google Shape;243;p40"/>
          <p:cNvSpPr txBox="1">
            <a:spLocks noGrp="1"/>
          </p:cNvSpPr>
          <p:nvPr>
            <p:ph type="subTitle" idx="1"/>
          </p:nvPr>
        </p:nvSpPr>
        <p:spPr>
          <a:xfrm>
            <a:off x="5669279" y="1781343"/>
            <a:ext cx="2675467" cy="2222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Se utilizó Trello como herramienta para el listado de tareas a realizar durante esta fase. Cada integrante podía visualizar el avance.</a:t>
            </a:r>
          </a:p>
          <a:p>
            <a:pPr marL="0" lvl="0" indent="0" algn="just"/>
            <a:endParaRPr lang="es-MX" dirty="0"/>
          </a:p>
          <a:p>
            <a:pPr marL="0" lvl="0" indent="0" algn="just"/>
            <a:r>
              <a:rPr lang="es-MX" dirty="0"/>
              <a:t>Esto permitió trabajar más ordenadamente y una comunicación más clara.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7EA83F-FFFE-4B56-8DE4-5D7FB3438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54" y="1251282"/>
            <a:ext cx="4664801" cy="271885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 descr="Trello Logo and symbol, meaning, history, PNG">
            <a:extLst>
              <a:ext uri="{FF2B5EF4-FFF2-40B4-BE49-F238E27FC236}">
                <a16:creationId xmlns:a16="http://schemas.microsoft.com/office/drawing/2014/main" id="{96BC7A3C-C1BD-48DD-9E52-B1984CAD2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169" y="1139545"/>
            <a:ext cx="1213260" cy="68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>
            <a:spLocks noGrp="1"/>
          </p:cNvSpPr>
          <p:nvPr>
            <p:ph type="title"/>
          </p:nvPr>
        </p:nvSpPr>
        <p:spPr>
          <a:xfrm>
            <a:off x="715100" y="739537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Gestión del código</a:t>
            </a:r>
            <a:endParaRPr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body" idx="1"/>
          </p:nvPr>
        </p:nvSpPr>
        <p:spPr>
          <a:xfrm>
            <a:off x="715100" y="1383718"/>
            <a:ext cx="77138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El trabajo, </a:t>
            </a:r>
            <a:r>
              <a:rPr lang="es-CL" sz="1400" u="sng" dirty="0"/>
              <a:t>desde la primera experiencia</a:t>
            </a:r>
            <a:r>
              <a:rPr lang="es-CL" sz="1400" dirty="0"/>
              <a:t>, ha sido respaldado en repositorios de GitHub. Cada integrante creaba su rama propia para avanzar y luego se integraba a la rama </a:t>
            </a:r>
            <a:r>
              <a:rPr lang="es-CL" sz="1400" dirty="0">
                <a:solidFill>
                  <a:schemeClr val="tx2">
                    <a:lumMod val="75000"/>
                  </a:schemeClr>
                </a:solidFill>
              </a:rPr>
              <a:t>Main</a:t>
            </a:r>
            <a:r>
              <a:rPr lang="es-CL" sz="1400" dirty="0"/>
              <a:t>.</a:t>
            </a:r>
            <a:endParaRPr sz="1400" dirty="0"/>
          </a:p>
        </p:txBody>
      </p:sp>
      <p:pic>
        <p:nvPicPr>
          <p:cNvPr id="3074" name="Picture 2" descr="Unlocking the Power of GitHub: A Comprehensive Guide for Developers and  Teams">
            <a:extLst>
              <a:ext uri="{FF2B5EF4-FFF2-40B4-BE49-F238E27FC236}">
                <a16:creationId xmlns:a16="http://schemas.microsoft.com/office/drawing/2014/main" id="{A9C6921F-1C30-4AF4-986F-8F6F43900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228" y="634056"/>
            <a:ext cx="2126672" cy="74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538D3D9-7F07-404B-872C-A7A41F09E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47" y="2215461"/>
            <a:ext cx="4168132" cy="2260830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F86247-987A-42D0-80D5-EF26ABED3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485" y="2231854"/>
            <a:ext cx="3376721" cy="224443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4868E0B-B7EF-4958-8F32-967A46BA278B}"/>
              </a:ext>
            </a:extLst>
          </p:cNvPr>
          <p:cNvCxnSpPr/>
          <p:nvPr/>
        </p:nvCxnSpPr>
        <p:spPr>
          <a:xfrm>
            <a:off x="4204854" y="3500191"/>
            <a:ext cx="1163782" cy="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E966CD34-E7D8-D040-2932-864BA7FD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3270CD56-3792-2E31-B8A1-8645120437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 implementado: </a:t>
            </a:r>
            <a:r>
              <a:rPr lang="en" dirty="0">
                <a:solidFill>
                  <a:srgbClr val="0070C0"/>
                </a:solidFill>
              </a:rPr>
              <a:t>Random Forest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8221F5-5EB7-BEC0-50FA-A0197163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0" y="1275347"/>
            <a:ext cx="5094714" cy="309211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A5E336D-46F9-2177-9B4E-4BBC91B142D5}"/>
              </a:ext>
            </a:extLst>
          </p:cNvPr>
          <p:cNvSpPr txBox="1"/>
          <p:nvPr/>
        </p:nvSpPr>
        <p:spPr>
          <a:xfrm>
            <a:off x="5910514" y="1597320"/>
            <a:ext cx="29086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El modelo elegido fue </a:t>
            </a:r>
            <a:r>
              <a:rPr kumimoji="0" lang="es-CL" altLang="es-C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Random Forest 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tras los resultados de la etapa anterior dado que era el que presentaba menos Falsos negativos.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L" altLang="es-CL" sz="1400" dirty="0">
              <a:solidFill>
                <a:schemeClr val="tx1"/>
              </a:solidFill>
              <a:latin typeface="Albert Sans" panose="020B06040202020202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C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Dentro del contexto de salud mental, este modelo se traduce en más estudiantes recibiendo atención oportuna</a:t>
            </a:r>
            <a:r>
              <a:rPr lang="es-MX" altLang="es-CL" b="1" dirty="0">
                <a:solidFill>
                  <a:schemeClr val="tx1"/>
                </a:solidFill>
                <a:latin typeface="Albert Sans" panose="020B0604020202020204" charset="0"/>
              </a:rPr>
              <a:t>.</a:t>
            </a:r>
            <a:endParaRPr kumimoji="0" lang="es-CL" altLang="es-CL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ber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6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138E9C6E-A2AC-8E49-6BBD-A9DF4523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0DCDE0-3B40-71D6-8C86-908743551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t="60441" r="60293"/>
          <a:stretch>
            <a:fillRect/>
          </a:stretch>
        </p:blipFill>
        <p:spPr>
          <a:xfrm>
            <a:off x="1518932" y="3739411"/>
            <a:ext cx="2583836" cy="1404089"/>
          </a:xfrm>
          <a:prstGeom prst="rect">
            <a:avLst/>
          </a:prstGeom>
        </p:spPr>
      </p:pic>
      <p:sp>
        <p:nvSpPr>
          <p:cNvPr id="242" name="Google Shape;242;p40">
            <a:extLst>
              <a:ext uri="{FF2B5EF4-FFF2-40B4-BE49-F238E27FC236}">
                <a16:creationId xmlns:a16="http://schemas.microsoft.com/office/drawing/2014/main" id="{17E3110E-B1E0-6709-E9E3-DAF08D758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535000"/>
            <a:ext cx="4405453" cy="716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Arquitectura final</a:t>
            </a:r>
            <a:endParaRPr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424439-FE08-9B39-D60E-441D752EC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8406" y="1059125"/>
            <a:ext cx="6507188" cy="354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37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F41B3E58-A936-16B5-872D-3E8FE651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D8FEF4C8-DDE9-11EF-88A1-5EBC0CB72A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Visualización</a:t>
            </a:r>
            <a:endParaRPr sz="4400" dirty="0"/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371E4274-4F00-5D1A-1E24-D44951CF368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237" name="Google Shape;237;p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BE62F4-53C0-86B6-CFB8-33548E3DC308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217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>
            <a:spLocks noGrp="1"/>
          </p:cNvSpPr>
          <p:nvPr>
            <p:ph type="title"/>
          </p:nvPr>
        </p:nvSpPr>
        <p:spPr>
          <a:xfrm>
            <a:off x="715050" y="534893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Dashboard interactivo (</a:t>
            </a:r>
            <a:r>
              <a:rPr lang="es-CL" dirty="0" err="1"/>
              <a:t>plotly</a:t>
            </a:r>
            <a:r>
              <a:rPr lang="es-CL" dirty="0"/>
              <a:t> + </a:t>
            </a:r>
            <a:r>
              <a:rPr lang="es-CL" dirty="0" err="1"/>
              <a:t>dash</a:t>
            </a:r>
            <a:r>
              <a:rPr lang="es-CL" dirty="0"/>
              <a:t>)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D9AB28-8530-0B35-B6EE-1FFC62FC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00" y="1301162"/>
            <a:ext cx="4308583" cy="34396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0E96DCD-9531-0A98-C584-AD07EF570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083" y="2285000"/>
            <a:ext cx="3970169" cy="26612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104BC3A-DB3C-CC79-DE0C-4B7F3D6EF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307" y="1203051"/>
            <a:ext cx="3894945" cy="908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97867447-E17B-8655-622E-91E29B7D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1A531902-3D3C-17C5-EF16-B6DE3A974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Despliegue</a:t>
            </a:r>
            <a:endParaRPr sz="4400" dirty="0"/>
          </a:p>
        </p:txBody>
      </p:sp>
      <p:sp>
        <p:nvSpPr>
          <p:cNvPr id="235" name="Google Shape;235;p39">
            <a:extLst>
              <a:ext uri="{FF2B5EF4-FFF2-40B4-BE49-F238E27FC236}">
                <a16:creationId xmlns:a16="http://schemas.microsoft.com/office/drawing/2014/main" id="{32C77637-54D8-C8D3-F45D-09B7E1CC9F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237" name="Google Shape;237;p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8D5D262-CA4C-13A2-7FC4-4EECC0465C7C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53263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6A54A0F-8869-1BF9-9DE1-5FDD45C96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100" y="1156917"/>
            <a:ext cx="6521116" cy="3559867"/>
          </a:xfrm>
          <a:prstGeom prst="rect">
            <a:avLst/>
          </a:prstGeom>
        </p:spPr>
      </p:pic>
      <p:pic>
        <p:nvPicPr>
          <p:cNvPr id="1028" name="Picture 4" descr="Postman Icon SVG Vector &amp; PNG Free Download | UXWing">
            <a:extLst>
              <a:ext uri="{FF2B5EF4-FFF2-40B4-BE49-F238E27FC236}">
                <a16:creationId xmlns:a16="http://schemas.microsoft.com/office/drawing/2014/main" id="{75804D3C-11EC-E86B-B1ED-0AC52AA1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568" y="535000"/>
            <a:ext cx="741948" cy="74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5577416" cy="5136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Endpoints construidos (FastAPI)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9829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18798-1B42-92D7-8240-823B9266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559063"/>
            <a:ext cx="3599337" cy="547842"/>
          </a:xfrm>
        </p:spPr>
        <p:txBody>
          <a:bodyPr/>
          <a:lstStyle/>
          <a:p>
            <a:r>
              <a:rPr lang="es-CL" sz="2800" dirty="0"/>
              <a:t>Docker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7E9AD74-4D07-09C1-D105-C10703F97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912" y="3685228"/>
            <a:ext cx="3856800" cy="961643"/>
          </a:xfrm>
        </p:spPr>
        <p:txBody>
          <a:bodyPr/>
          <a:lstStyle/>
          <a:p>
            <a:r>
              <a:rPr lang="es-CL" dirty="0"/>
              <a:t>	Cualquier persona que disponga de Docker puede ejecutar exactamente la misma aplicación desarrollada.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7318CA4-80BE-EBF0-2614-B2CBD3660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4235"/>
              </p:ext>
            </p:extLst>
          </p:nvPr>
        </p:nvGraphicFramePr>
        <p:xfrm>
          <a:off x="951622" y="1682626"/>
          <a:ext cx="7240756" cy="1598016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620378">
                  <a:extLst>
                    <a:ext uri="{9D8B030D-6E8A-4147-A177-3AD203B41FA5}">
                      <a16:colId xmlns:a16="http://schemas.microsoft.com/office/drawing/2014/main" val="3796798601"/>
                    </a:ext>
                  </a:extLst>
                </a:gridCol>
                <a:gridCol w="3620378">
                  <a:extLst>
                    <a:ext uri="{9D8B030D-6E8A-4147-A177-3AD203B41FA5}">
                      <a16:colId xmlns:a16="http://schemas.microsoft.com/office/drawing/2014/main" val="3676506707"/>
                    </a:ext>
                  </a:extLst>
                </a:gridCol>
              </a:tblGrid>
              <a:tr h="363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b="1"/>
                        <a:t>Sin Docker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800" b="1" dirty="0"/>
                        <a:t>Con Docker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500367"/>
                  </a:ext>
                </a:extLst>
              </a:tr>
              <a:tr h="30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solidFill>
                            <a:schemeClr val="tx1"/>
                          </a:solidFill>
                        </a:rPr>
                        <a:t>Instalación manual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solidFill>
                            <a:schemeClr val="tx1"/>
                          </a:solidFill>
                        </a:rPr>
                        <a:t>Ejecución inmediata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952264"/>
                  </a:ext>
                </a:extLst>
              </a:tr>
              <a:tr h="30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Riesgo de incompatibilidades</a:t>
                      </a:r>
                    </a:p>
                  </a:txBody>
                  <a:tcPr anchor="ctr"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Entorno controlado</a:t>
                      </a:r>
                    </a:p>
                  </a:txBody>
                  <a:tcPr anchor="ctr">
                    <a:solidFill>
                      <a:schemeClr val="accent5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383880"/>
                  </a:ext>
                </a:extLst>
              </a:tr>
              <a:tr h="30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Configuración compleja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solidFill>
                            <a:schemeClr val="tx1"/>
                          </a:solidFill>
                        </a:rPr>
                        <a:t>Configuración simplificada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21556"/>
                  </a:ext>
                </a:extLst>
              </a:tr>
              <a:tr h="30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solidFill>
                            <a:schemeClr val="tx1"/>
                          </a:solidFill>
                        </a:rPr>
                        <a:t>Difícil replicación</a:t>
                      </a:r>
                    </a:p>
                  </a:txBody>
                  <a:tcPr anchor="ctr"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Reproducible</a:t>
                      </a:r>
                    </a:p>
                  </a:txBody>
                  <a:tcPr anchor="ctr">
                    <a:solidFill>
                      <a:schemeClr val="accent5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566256"/>
                  </a:ext>
                </a:extLst>
              </a:tr>
            </a:tbl>
          </a:graphicData>
        </a:graphic>
      </p:graphicFrame>
      <p:pic>
        <p:nvPicPr>
          <p:cNvPr id="2054" name="Picture 6">
            <a:extLst>
              <a:ext uri="{FF2B5EF4-FFF2-40B4-BE49-F238E27FC236}">
                <a16:creationId xmlns:a16="http://schemas.microsoft.com/office/drawing/2014/main" id="{04A48B56-EC26-08FB-F430-BA27668EF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471" r="70395"/>
          <a:stretch>
            <a:fillRect/>
          </a:stretch>
        </p:blipFill>
        <p:spPr bwMode="auto">
          <a:xfrm>
            <a:off x="2406318" y="496629"/>
            <a:ext cx="821831" cy="67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640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5DEE19A7-8CC5-6491-A7C0-2E7919D6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994F64-4311-FAF1-FFE1-90DC0028829C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90;p35">
            <a:extLst>
              <a:ext uri="{FF2B5EF4-FFF2-40B4-BE49-F238E27FC236}">
                <a16:creationId xmlns:a16="http://schemas.microsoft.com/office/drawing/2014/main" id="{3664D02F-B9EC-405C-4DEA-1417793421C3}"/>
              </a:ext>
            </a:extLst>
          </p:cNvPr>
          <p:cNvSpPr txBox="1">
            <a:spLocks/>
          </p:cNvSpPr>
          <p:nvPr/>
        </p:nvSpPr>
        <p:spPr>
          <a:xfrm>
            <a:off x="711749" y="3030363"/>
            <a:ext cx="6627513" cy="138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9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s-CL" sz="4800" dirty="0"/>
              <a:t>Programación para la Ciencia de Datos</a:t>
            </a:r>
          </a:p>
        </p:txBody>
      </p:sp>
      <p:sp>
        <p:nvSpPr>
          <p:cNvPr id="3" name="Google Shape;191;p35">
            <a:extLst>
              <a:ext uri="{FF2B5EF4-FFF2-40B4-BE49-F238E27FC236}">
                <a16:creationId xmlns:a16="http://schemas.microsoft.com/office/drawing/2014/main" id="{5559089E-92D6-E345-5CBF-A43DC819DDAA}"/>
              </a:ext>
            </a:extLst>
          </p:cNvPr>
          <p:cNvSpPr txBox="1">
            <a:spLocks/>
          </p:cNvSpPr>
          <p:nvPr/>
        </p:nvSpPr>
        <p:spPr>
          <a:xfrm>
            <a:off x="4030579" y="522968"/>
            <a:ext cx="4401821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/>
            <a:r>
              <a:rPr lang="es-MX" b="1"/>
              <a:t>Abel Aravena, Benjamín Aravena, Gabriel Castillo</a:t>
            </a:r>
            <a:endParaRPr lang="es-MX" b="1" dirty="0"/>
          </a:p>
        </p:txBody>
      </p:sp>
      <p:cxnSp>
        <p:nvCxnSpPr>
          <p:cNvPr id="4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D81F40-D489-0526-9940-3A725406A801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Google Shape;190;p35">
            <a:extLst>
              <a:ext uri="{FF2B5EF4-FFF2-40B4-BE49-F238E27FC236}">
                <a16:creationId xmlns:a16="http://schemas.microsoft.com/office/drawing/2014/main" id="{B9B530D0-A731-3A65-A4DB-6E1239659B37}"/>
              </a:ext>
            </a:extLst>
          </p:cNvPr>
          <p:cNvSpPr txBox="1">
            <a:spLocks/>
          </p:cNvSpPr>
          <p:nvPr/>
        </p:nvSpPr>
        <p:spPr>
          <a:xfrm>
            <a:off x="711750" y="2246492"/>
            <a:ext cx="5917650" cy="78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9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exandria Medium"/>
              <a:buNone/>
              <a:defRPr sz="52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s-CL" sz="3600" dirty="0">
                <a:solidFill>
                  <a:schemeClr val="bg2">
                    <a:lumMod val="25000"/>
                  </a:schemeClr>
                </a:solidFill>
              </a:rPr>
              <a:t>SCY11</a:t>
            </a:r>
            <a:r>
              <a:rPr lang="es-CL" sz="3600" dirty="0">
                <a:solidFill>
                  <a:srgbClr val="0F5E1F"/>
                </a:solidFill>
              </a:rPr>
              <a:t>01-80</a:t>
            </a:r>
            <a:r>
              <a:rPr lang="es-CL" sz="3600" dirty="0">
                <a:solidFill>
                  <a:schemeClr val="bg2">
                    <a:lumMod val="25000"/>
                  </a:schemeClr>
                </a:solidFill>
              </a:rPr>
              <a:t>0D</a:t>
            </a:r>
          </a:p>
        </p:txBody>
      </p:sp>
    </p:spTree>
    <p:extLst>
      <p:ext uri="{BB962C8B-B14F-4D97-AF65-F5344CB8AC3E}">
        <p14:creationId xmlns:p14="http://schemas.microsoft.com/office/powerpoint/2010/main" val="1799552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EFFF6"/>
      </a:lt1>
      <a:dk2>
        <a:srgbClr val="C2F5CC"/>
      </a:dk2>
      <a:lt2>
        <a:srgbClr val="52B878"/>
      </a:lt2>
      <a:accent1>
        <a:srgbClr val="13693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410</Words>
  <Application>Microsoft Office PowerPoint</Application>
  <PresentationFormat>Presentación en pantalla (16:9)</PresentationFormat>
  <Paragraphs>68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Albert Sans</vt:lpstr>
      <vt:lpstr>Arial</vt:lpstr>
      <vt:lpstr>Alexandria Medium</vt:lpstr>
      <vt:lpstr>Lead Funnel by Slidesgo</vt:lpstr>
      <vt:lpstr>Presentación de PowerPoint</vt:lpstr>
      <vt:lpstr>Descripción del caso</vt:lpstr>
      <vt:lpstr>Variables (features) del Dataset</vt:lpstr>
      <vt:lpstr>Fases Aplicadas en el Proyecto</vt:lpstr>
      <vt:lpstr>Gestión del proyecto</vt:lpstr>
      <vt:lpstr>Planificación inicial</vt:lpstr>
      <vt:lpstr>Marco de trabajo Kanban</vt:lpstr>
      <vt:lpstr>Gestión del código</vt:lpstr>
      <vt:lpstr>Modelo implementado: Random Forest</vt:lpstr>
      <vt:lpstr>Arquitectura final</vt:lpstr>
      <vt:lpstr>Visualización</vt:lpstr>
      <vt:lpstr>Dashboard interactivo (plotly + dash)</vt:lpstr>
      <vt:lpstr>Despliegue</vt:lpstr>
      <vt:lpstr>Endpoints construidos (FastAPI)</vt:lpstr>
      <vt:lpstr>Docker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Benjamin Aravena Guajardo</cp:lastModifiedBy>
  <cp:revision>28</cp:revision>
  <dcterms:modified xsi:type="dcterms:W3CDTF">2026-06-15T05:22:31Z</dcterms:modified>
</cp:coreProperties>
</file>